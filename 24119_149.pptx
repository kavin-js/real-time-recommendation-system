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Double-tap to move the slide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Double-tap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defRPr>
            </a:lvl1pPr>
          </a:lstStyle>
          <a:p>
            <a:pPr indent="0" algn="r">
              <a:buNone/>
            </a:pPr>
            <a:fld id="{39A881D5-27D2-48E6-AA9D-EF11E1B133C0}" type="slidenum"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Double-tap to edit the title text format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Double-tap to edit the outline text format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1828800"/>
            <a:ext cx="11093040" cy="1827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Deep Learning Model Acceleration and Optimization Strategies for Real-Time Recommendation Systems</a:t>
            </a:r>
            <a:endParaRPr lang="en-US" sz="3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3931920"/>
            <a:ext cx="1109304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Problem Statement No. 149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4709160"/>
            <a:ext cx="110930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Kavin J S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5166360"/>
            <a:ext cx="110930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CH.SC.U4CSE24119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49000" y="366120"/>
            <a:ext cx="1108944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Problem Statement &amp; Motivation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540360" y="1800360"/>
            <a:ext cx="11089440" cy="328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342900" indent="-342900" defTabSz="914400">
              <a:lnSpc>
                <a:spcPct val="100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Recommendation systems, like the ones used by Amazon, Netflix, and YouTube, predict what a user will want to watch, buy, or listen to next.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The tricky part is doing this in real time — the system only has a few milliseconds to respond after a user clicks or scrolls.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The most accurate deep learning models (like self-attention or CNN-LSTM) are usually too slow and heavy to keep up with that speed.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Popular platforms also get huge traffic — sometimes tens of thousands of requests per second — so the system needs to scale too.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800"/>
              </a:spcAft>
              <a:buClr>
                <a:srgbClr val="000000"/>
              </a:buClr>
              <a:buFont typeface="Symbol" panose="05050102010706020507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Goal: make these models faster and lighter, and able to handle more traffic, without losing the accuracy that makes them useful.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1157040" y="4500360"/>
            <a:ext cx="2741040" cy="729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5" name="Text 16"/>
          <p:cNvSpPr/>
          <p:nvPr/>
        </p:nvSpPr>
        <p:spPr>
          <a:xfrm>
            <a:off x="1157040" y="4500360"/>
            <a:ext cx="274104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User Request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" name="Text 19"/>
          <p:cNvSpPr/>
          <p:nvPr/>
        </p:nvSpPr>
        <p:spPr>
          <a:xfrm>
            <a:off x="3899880" y="4500360"/>
            <a:ext cx="82080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→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722840" y="4500360"/>
            <a:ext cx="2741040" cy="729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8" name="Text 25"/>
          <p:cNvSpPr/>
          <p:nvPr/>
        </p:nvSpPr>
        <p:spPr>
          <a:xfrm>
            <a:off x="4722840" y="4500360"/>
            <a:ext cx="274104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Deep Learning Model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" name="Text 26"/>
          <p:cNvSpPr/>
          <p:nvPr/>
        </p:nvSpPr>
        <p:spPr>
          <a:xfrm>
            <a:off x="7466040" y="4500360"/>
            <a:ext cx="82080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→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8289000" y="4500360"/>
            <a:ext cx="2741040" cy="729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1" name="Text 27"/>
          <p:cNvSpPr/>
          <p:nvPr/>
        </p:nvSpPr>
        <p:spPr>
          <a:xfrm>
            <a:off x="8289000" y="4500360"/>
            <a:ext cx="274104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Recommendation Output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8"/>
          <p:cNvSpPr/>
          <p:nvPr/>
        </p:nvSpPr>
        <p:spPr>
          <a:xfrm>
            <a:off x="457560" y="255960"/>
            <a:ext cx="1127304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uFillTx/>
                <a:latin typeface="Cambria" panose="02040503050406030204"/>
                <a:ea typeface="Cambria" panose="02040503050406030204"/>
              </a:rPr>
              <a:t>Identifying Datasets &amp; Evaluation Metrics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Text 9"/>
          <p:cNvSpPr/>
          <p:nvPr/>
        </p:nvSpPr>
        <p:spPr>
          <a:xfrm>
            <a:off x="457560" y="1051560"/>
            <a:ext cx="351900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51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DATASETS USED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457560" y="1371600"/>
            <a:ext cx="351900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Alibaba Taobao User Behavior Dataset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457560" y="1755720"/>
            <a:ext cx="1050120" cy="657000"/>
          </a:xfrm>
          <a:prstGeom prst="roundRect">
            <a:avLst>
              <a:gd name="adj" fmla="val 8333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457560" y="1755720"/>
            <a:ext cx="105012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       </a:t>
            </a:r>
            <a:r>
              <a:rPr lang="en-US" sz="15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50M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Interaction Logs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1692000" y="1755720"/>
            <a:ext cx="1050120" cy="657000"/>
          </a:xfrm>
          <a:prstGeom prst="roundRect">
            <a:avLst>
              <a:gd name="adj" fmla="val 8333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692000" y="1755720"/>
            <a:ext cx="105012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         </a:t>
            </a:r>
            <a:r>
              <a:rPr lang="en-US" sz="15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1M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Users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2926440" y="1755720"/>
            <a:ext cx="1050120" cy="657000"/>
          </a:xfrm>
          <a:prstGeom prst="roundRect">
            <a:avLst>
              <a:gd name="adj" fmla="val 8333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2926440" y="1755720"/>
            <a:ext cx="105012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       </a:t>
            </a:r>
            <a:r>
              <a:rPr lang="en-US" sz="15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200K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Products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457560" y="2505600"/>
            <a:ext cx="351900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Real-world e-commerce behaviour, ideal for evaluating real-time recommendation performance.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457560" y="2999160"/>
            <a:ext cx="351900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51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BEHAVIOUR TYPES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457560" y="3310200"/>
            <a:ext cx="1690200" cy="309600"/>
          </a:xfrm>
          <a:prstGeom prst="roundRect">
            <a:avLst>
              <a:gd name="adj" fmla="val 14706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457560" y="3310200"/>
            <a:ext cx="1690200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Page View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2286360" y="3310200"/>
            <a:ext cx="1690200" cy="309600"/>
          </a:xfrm>
          <a:prstGeom prst="roundRect">
            <a:avLst>
              <a:gd name="adj" fmla="val 14706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2286360" y="3310200"/>
            <a:ext cx="1690200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Favourite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457560" y="3694320"/>
            <a:ext cx="1690200" cy="309600"/>
          </a:xfrm>
          <a:prstGeom prst="roundRect">
            <a:avLst>
              <a:gd name="adj" fmla="val 14706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457560" y="3694320"/>
            <a:ext cx="1690200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Add to Cart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2286360" y="3694320"/>
            <a:ext cx="1690200" cy="309600"/>
          </a:xfrm>
          <a:prstGeom prst="roundRect">
            <a:avLst>
              <a:gd name="adj" fmla="val 14706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2286360" y="3694320"/>
            <a:ext cx="1690200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Purchase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457560" y="4224600"/>
            <a:ext cx="351900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51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PREPROCESSING FLOW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457560" y="4526280"/>
            <a:ext cx="3519000" cy="300240"/>
          </a:xfrm>
          <a:prstGeom prst="roundRect">
            <a:avLst>
              <a:gd name="adj" fmla="val 15152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43" name="Text 28"/>
          <p:cNvSpPr/>
          <p:nvPr/>
        </p:nvSpPr>
        <p:spPr>
          <a:xfrm>
            <a:off x="457560" y="4526280"/>
            <a:ext cx="351900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Raw Logs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2162880" y="4841640"/>
            <a:ext cx="108360" cy="99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4000" tIns="30240" rIns="54000" bIns="3024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457560" y="4965120"/>
            <a:ext cx="3519000" cy="300240"/>
          </a:xfrm>
          <a:prstGeom prst="roundRect">
            <a:avLst>
              <a:gd name="adj" fmla="val 15152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457560" y="4965120"/>
            <a:ext cx="351900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Latest 100 User Actions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7" name="Shape 27"/>
          <p:cNvSpPr/>
          <p:nvPr/>
        </p:nvSpPr>
        <p:spPr>
          <a:xfrm>
            <a:off x="2162880" y="5280840"/>
            <a:ext cx="108360" cy="99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4000" tIns="30240" rIns="54000" bIns="3024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457560" y="5403960"/>
            <a:ext cx="3519000" cy="300240"/>
          </a:xfrm>
          <a:prstGeom prst="roundRect">
            <a:avLst>
              <a:gd name="adj" fmla="val 15152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457560" y="5403960"/>
            <a:ext cx="351900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Sequence Construction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0" name="Shape 30"/>
          <p:cNvSpPr/>
          <p:nvPr/>
        </p:nvSpPr>
        <p:spPr>
          <a:xfrm>
            <a:off x="2162880" y="5719680"/>
            <a:ext cx="108360" cy="99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4000" tIns="30240" rIns="54000" bIns="3024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51" name="Shape 31"/>
          <p:cNvSpPr/>
          <p:nvPr/>
        </p:nvSpPr>
        <p:spPr>
          <a:xfrm>
            <a:off x="457560" y="5843160"/>
            <a:ext cx="3519000" cy="300240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52" name="Text 32"/>
          <p:cNvSpPr/>
          <p:nvPr/>
        </p:nvSpPr>
        <p:spPr>
          <a:xfrm>
            <a:off x="457560" y="5843160"/>
            <a:ext cx="351900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50 Candidate Items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3" name="Shape 33"/>
          <p:cNvSpPr/>
          <p:nvPr/>
        </p:nvSpPr>
        <p:spPr>
          <a:xfrm>
            <a:off x="2162880" y="6158520"/>
            <a:ext cx="108360" cy="99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4000" tIns="30240" rIns="54000" bIns="3024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54" name="Shape 34"/>
          <p:cNvSpPr/>
          <p:nvPr/>
        </p:nvSpPr>
        <p:spPr>
          <a:xfrm>
            <a:off x="457560" y="6282000"/>
            <a:ext cx="3519000" cy="300240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55" name="Text 35"/>
          <p:cNvSpPr/>
          <p:nvPr/>
        </p:nvSpPr>
        <p:spPr>
          <a:xfrm>
            <a:off x="457560" y="6282000"/>
            <a:ext cx="351900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Model Input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" name="Text 36"/>
          <p:cNvSpPr/>
          <p:nvPr/>
        </p:nvSpPr>
        <p:spPr>
          <a:xfrm>
            <a:off x="4206600" y="1051560"/>
            <a:ext cx="370188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51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METHODOLOGY PIPELINE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" name="Shape 37"/>
          <p:cNvSpPr/>
          <p:nvPr/>
        </p:nvSpPr>
        <p:spPr>
          <a:xfrm>
            <a:off x="4205880" y="138996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58" name="Text 38"/>
          <p:cNvSpPr/>
          <p:nvPr/>
        </p:nvSpPr>
        <p:spPr>
          <a:xfrm>
            <a:off x="4298040" y="141732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User Behaviour Dataset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9" name="Shape 39"/>
          <p:cNvSpPr/>
          <p:nvPr/>
        </p:nvSpPr>
        <p:spPr>
          <a:xfrm>
            <a:off x="5998680" y="183348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0" name="Shape 40"/>
          <p:cNvSpPr/>
          <p:nvPr/>
        </p:nvSpPr>
        <p:spPr>
          <a:xfrm>
            <a:off x="4206600" y="199332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1" name="Text 41"/>
          <p:cNvSpPr/>
          <p:nvPr/>
        </p:nvSpPr>
        <p:spPr>
          <a:xfrm>
            <a:off x="4298040" y="199332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Baseline FP32 Model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2" name="Shape 42"/>
          <p:cNvSpPr/>
          <p:nvPr/>
        </p:nvSpPr>
        <p:spPr>
          <a:xfrm>
            <a:off x="5998680" y="240948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3" name="Shape 43"/>
          <p:cNvSpPr/>
          <p:nvPr/>
        </p:nvSpPr>
        <p:spPr>
          <a:xfrm>
            <a:off x="4206600" y="256932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4" name="Text 44"/>
          <p:cNvSpPr/>
          <p:nvPr/>
        </p:nvSpPr>
        <p:spPr>
          <a:xfrm>
            <a:off x="4298040" y="256932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Structured Pruning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5" name="Shape 45"/>
          <p:cNvSpPr/>
          <p:nvPr/>
        </p:nvSpPr>
        <p:spPr>
          <a:xfrm>
            <a:off x="5998680" y="298548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6" name="Shape 46"/>
          <p:cNvSpPr/>
          <p:nvPr/>
        </p:nvSpPr>
        <p:spPr>
          <a:xfrm>
            <a:off x="4206600" y="314568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7" name="Text 47"/>
          <p:cNvSpPr/>
          <p:nvPr/>
        </p:nvSpPr>
        <p:spPr>
          <a:xfrm>
            <a:off x="4298040" y="314568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INT8 Quantization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8" name="Shape 48"/>
          <p:cNvSpPr/>
          <p:nvPr/>
        </p:nvSpPr>
        <p:spPr>
          <a:xfrm>
            <a:off x="5998680" y="356148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69" name="Shape 49"/>
          <p:cNvSpPr/>
          <p:nvPr/>
        </p:nvSpPr>
        <p:spPr>
          <a:xfrm>
            <a:off x="4206600" y="372168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0" name="Text 50"/>
          <p:cNvSpPr/>
          <p:nvPr/>
        </p:nvSpPr>
        <p:spPr>
          <a:xfrm>
            <a:off x="4298040" y="372168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Knowledge Distillation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1" name="Shape 51"/>
          <p:cNvSpPr/>
          <p:nvPr/>
        </p:nvSpPr>
        <p:spPr>
          <a:xfrm>
            <a:off x="5998680" y="413784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2" name="Shape 52"/>
          <p:cNvSpPr/>
          <p:nvPr/>
        </p:nvSpPr>
        <p:spPr>
          <a:xfrm>
            <a:off x="4206600" y="429768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3" name="Text 53"/>
          <p:cNvSpPr/>
          <p:nvPr/>
        </p:nvSpPr>
        <p:spPr>
          <a:xfrm>
            <a:off x="4298040" y="429768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TensorRT FP16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4" name="Shape 54"/>
          <p:cNvSpPr/>
          <p:nvPr/>
        </p:nvSpPr>
        <p:spPr>
          <a:xfrm>
            <a:off x="5998680" y="471384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4206600" y="487368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6" name="Text 56"/>
          <p:cNvSpPr/>
          <p:nvPr/>
        </p:nvSpPr>
        <p:spPr>
          <a:xfrm>
            <a:off x="4298040" y="487368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Elastic Scheduling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7" name="Shape 57"/>
          <p:cNvSpPr/>
          <p:nvPr/>
        </p:nvSpPr>
        <p:spPr>
          <a:xfrm>
            <a:off x="5998680" y="528984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8" name="Shape 58"/>
          <p:cNvSpPr/>
          <p:nvPr/>
        </p:nvSpPr>
        <p:spPr>
          <a:xfrm>
            <a:off x="4206600" y="544968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79" name="Text 59"/>
          <p:cNvSpPr/>
          <p:nvPr/>
        </p:nvSpPr>
        <p:spPr>
          <a:xfrm>
            <a:off x="4298040" y="5449680"/>
            <a:ext cx="3519000" cy="40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Load Balancing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0" name="Shape 60"/>
          <p:cNvSpPr/>
          <p:nvPr/>
        </p:nvSpPr>
        <p:spPr>
          <a:xfrm>
            <a:off x="5998680" y="5865840"/>
            <a:ext cx="117360" cy="9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8680" tIns="23400" rIns="58680" bIns="23400" anchor="t">
            <a:noAutofit/>
          </a:bodyPr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chemeClr val="dk1"/>
              </a:solidFill>
              <a:uFillTx/>
              <a:latin typeface="Arial" panose="020B0604020202020204"/>
            </a:endParaRPr>
          </a:p>
        </p:txBody>
      </p:sp>
      <p:sp>
        <p:nvSpPr>
          <p:cNvPr id="81" name="Text 62"/>
          <p:cNvSpPr/>
          <p:nvPr/>
        </p:nvSpPr>
        <p:spPr>
          <a:xfrm>
            <a:off x="4943160" y="6135840"/>
            <a:ext cx="3519000" cy="4010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endParaRPr lang="en-US" sz="1050" b="1" u="none" strike="noStrike">
              <a:solidFill>
                <a:schemeClr val="dk1"/>
              </a:solidFill>
              <a:uFillTx/>
              <a:latin typeface="Calibri" panose="020F0502020204030204"/>
            </a:endParaRPr>
          </a:p>
        </p:txBody>
      </p:sp>
      <p:sp>
        <p:nvSpPr>
          <p:cNvPr id="82" name="Text 63"/>
          <p:cNvSpPr/>
          <p:nvPr/>
        </p:nvSpPr>
        <p:spPr>
          <a:xfrm>
            <a:off x="8138520" y="1051560"/>
            <a:ext cx="359208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51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EVALUATION METRICS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graphicFrame>
        <p:nvGraphicFramePr>
          <p:cNvPr id="83" name="Table 0"/>
          <p:cNvGraphicFramePr/>
          <p:nvPr/>
        </p:nvGraphicFramePr>
        <p:xfrm>
          <a:off x="8138520" y="1389960"/>
          <a:ext cx="3634560" cy="2459160"/>
        </p:xfrm>
        <a:graphic>
          <a:graphicData uri="http://schemas.openxmlformats.org/drawingml/2006/table">
            <a:tbl>
              <a:tblPr/>
              <a:tblGrid>
                <a:gridCol w="1417320"/>
                <a:gridCol w="2217240"/>
              </a:tblGrid>
              <a:tr h="33840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Metric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Interpretation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04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Latency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Response Time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04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Throughput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Requests / Second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Hit Rate@50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Recommendation Accuracy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04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NDCG@50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Ranking Quality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MRR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Ranking Performance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040"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Memory Usage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uFillTx/>
                          <a:latin typeface="Calibri" panose="020F0502020204030204"/>
                        </a:rPr>
                        <a:t>Deployment Efficiency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 panose="020B0604020202020204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DCEBF2"/>
                      </a:solidFill>
                      <a:prstDash val="solid"/>
                    </a:lnL>
                    <a:lnR w="9360">
                      <a:solidFill>
                        <a:srgbClr val="DCEBF2"/>
                      </a:solidFill>
                      <a:prstDash val="solid"/>
                    </a:lnR>
                    <a:lnT w="9360">
                      <a:solidFill>
                        <a:srgbClr val="DCEBF2"/>
                      </a:solidFill>
                      <a:prstDash val="solid"/>
                    </a:lnT>
                    <a:lnB w="9360">
                      <a:solidFill>
                        <a:srgbClr val="DCEB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Text 64"/>
          <p:cNvSpPr/>
          <p:nvPr/>
        </p:nvSpPr>
        <p:spPr>
          <a:xfrm>
            <a:off x="8255880" y="3831480"/>
            <a:ext cx="359208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51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5" name="Text 66"/>
          <p:cNvSpPr/>
          <p:nvPr/>
        </p:nvSpPr>
        <p:spPr>
          <a:xfrm>
            <a:off x="8275680" y="4228560"/>
            <a:ext cx="3317760" cy="1507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The framework combines model compression and deployment optimization to reduce latency, memory usage and computational cost while maintaining recommendation quality.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6" name="Shape 58"/>
          <p:cNvSpPr/>
          <p:nvPr/>
        </p:nvSpPr>
        <p:spPr>
          <a:xfrm>
            <a:off x="4223160" y="6021360"/>
            <a:ext cx="3701880" cy="4010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uFillTx/>
                <a:latin typeface="Times New Roman" panose="02020603050405020304"/>
              </a:rPr>
              <a:t>Optimized Recommendation Model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320040"/>
            <a:ext cx="1109304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Results, Interpretation &amp; Conclusion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Text 1"/>
          <p:cNvSpPr/>
          <p:nvPr/>
        </p:nvSpPr>
        <p:spPr>
          <a:xfrm>
            <a:off x="640080" y="1554480"/>
            <a:ext cx="108799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Latency:  52.4 ms → 21.5 ms  (59% faster)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9" name="Text 2"/>
          <p:cNvSpPr/>
          <p:nvPr/>
        </p:nvSpPr>
        <p:spPr>
          <a:xfrm>
            <a:off x="640080" y="2212920"/>
            <a:ext cx="108799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Throughput:  190 → 460 req/s  (2.4× more concurrent users)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0" name="Text 3"/>
          <p:cNvSpPr/>
          <p:nvPr/>
        </p:nvSpPr>
        <p:spPr>
          <a:xfrm>
            <a:off x="640080" y="2871360"/>
            <a:ext cx="108799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Accuracy Loss:  &lt; 1%  (Hit Rate, NDCG, MRR virtually unchanged)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1" name="Text 4"/>
          <p:cNvSpPr/>
          <p:nvPr/>
        </p:nvSpPr>
        <p:spPr>
          <a:xfrm>
            <a:off x="640080" y="3529440"/>
            <a:ext cx="108799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Model Size:  128 MB → 12.8 MB  (~10% of original)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2" name="Text 5"/>
          <p:cNvSpPr/>
          <p:nvPr/>
        </p:nvSpPr>
        <p:spPr>
          <a:xfrm>
            <a:off x="640080" y="4507920"/>
            <a:ext cx="109713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Distillation + TensorRT FP16 wins — fastest, smallest, same accuracy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3" name="Text 6"/>
          <p:cNvSpPr/>
          <p:nvPr/>
        </p:nvSpPr>
        <p:spPr>
          <a:xfrm>
            <a:off x="640080" y="496512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User benefit: same fast, relevant recommendations — even at 2.4× the traffic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4" name="Text 7"/>
          <p:cNvSpPr/>
          <p:nvPr/>
        </p:nvSpPr>
        <p:spPr>
          <a:xfrm>
            <a:off x="640080" y="5422320"/>
            <a:ext cx="10971360" cy="77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000000"/>
                </a:solidFill>
                <a:uFillTx/>
                <a:latin typeface="Times New Roman" panose="02020603050405020304"/>
                <a:ea typeface="Calibri" panose="020F0502020204030204"/>
              </a:rPr>
              <a:t>Conclusion: Joint model + system optimization enables real-time, large-scale recommendation deployment for platforms like Amazon, Netflix, and YouTube.</a:t>
            </a:r>
            <a:endParaRPr lang="en-US" sz="1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43560" y="548767"/>
            <a:ext cx="112745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6E6E6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149</a:t>
            </a:r>
            <a:endParaRPr lang="en-US" sz="1400" dirty="0"/>
          </a:p>
        </p:txBody>
      </p:sp>
      <p:sp>
        <p:nvSpPr>
          <p:cNvPr id="3" name="Text 3"/>
          <p:cNvSpPr txBox="1"/>
          <p:nvPr/>
        </p:nvSpPr>
        <p:spPr>
          <a:xfrm>
            <a:off x="1060704" y="117221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400" b="1" i="1" dirty="0">
                <a:solidFill>
                  <a:srgbClr val="2626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Learning Model Acceleration and Optimization Strategies</a:t>
            </a:r>
            <a:endParaRPr lang="en-US" sz="2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2400" b="1" i="1" dirty="0">
                <a:solidFill>
                  <a:srgbClr val="2626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 Real-Time Recommendation Systems</a:t>
            </a:r>
            <a:endParaRPr lang="en-US" sz="2400" dirty="0"/>
          </a:p>
        </p:txBody>
      </p:sp>
      <p:sp>
        <p:nvSpPr>
          <p:cNvPr id="4" name="Text 4"/>
          <p:cNvSpPr txBox="1"/>
          <p:nvPr/>
        </p:nvSpPr>
        <p:spPr>
          <a:xfrm>
            <a:off x="1060704" y="2470023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1250" dirty="0">
                <a:solidFill>
                  <a:srgbClr val="6E6E6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Junli Shao*, Dingzhou Wang, Dannier Li, Jing Dong, Kowei Shih, Chengrui Zhou</a:t>
            </a:r>
            <a:endParaRPr lang="en-US" sz="1250" dirty="0"/>
          </a:p>
        </p:txBody>
      </p:sp>
      <p:sp>
        <p:nvSpPr>
          <p:cNvPr id="5" name="Text 5"/>
          <p:cNvSpPr txBox="1"/>
          <p:nvPr/>
        </p:nvSpPr>
        <p:spPr>
          <a:xfrm>
            <a:off x="1060704" y="2799207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E6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 Michigan · Duke University · University of Nebraska–Lincoln · Columbia University · Independent Researcher, Shenzhen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3351276" y="3903980"/>
            <a:ext cx="5486400" cy="1965960"/>
          </a:xfrm>
          <a:prstGeom prst="rect">
            <a:avLst/>
          </a:prstGeom>
          <a:solidFill>
            <a:schemeClr val="bg1"/>
          </a:solidFill>
          <a:ln w="12700">
            <a:solidFill>
              <a:srgbClr val="9C9C9C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3351276" y="40594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6E6E6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  <a:endParaRPr lang="en-US" sz="1200" b="1" kern="0" spc="150" dirty="0">
              <a:solidFill>
                <a:srgbClr val="6E6E6E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3351276" y="43337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Kavin J S</a:t>
            </a:r>
            <a:endParaRPr lang="en-US" sz="2400" b="1" dirty="0">
              <a:solidFill>
                <a:srgbClr val="00000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3351276" y="473608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CH.SC.U4CSE24119</a:t>
            </a:r>
            <a:r>
              <a:rPr lang="en-US" sz="1400" dirty="0">
                <a:solidFill>
                  <a:srgbClr val="26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|  B.Tech Computer Science Engineering</a:t>
            </a:r>
            <a:endParaRPr lang="en-US" sz="1400" dirty="0">
              <a:solidFill>
                <a:srgbClr val="26262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3351276" y="50286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Amrita Vishwa Vidyapeetham, Chennai Campus</a:t>
            </a:r>
            <a:endParaRPr lang="en-US" sz="1400" dirty="0">
              <a:solidFill>
                <a:srgbClr val="26262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265676" y="5376164"/>
            <a:ext cx="3657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3534156" y="546760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6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Phase – 2: Feature Selection &amp; Learning Algorithm / Technique Identification</a:t>
            </a:r>
            <a:endParaRPr lang="en-US" sz="1200" b="1" i="1" dirty="0">
              <a:solidFill>
                <a:srgbClr val="262626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Box 53"/>
          <p:cNvSpPr txBox="1"/>
          <p:nvPr/>
        </p:nvSpPr>
        <p:spPr>
          <a:xfrm>
            <a:off x="608330" y="6529070"/>
            <a:ext cx="64008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20" b="0" i="0">
                <a:solidFill>
                  <a:srgbClr val="000000"/>
                </a:solidFill>
                <a:latin typeface="Arial" panose="020B0604020202020204"/>
              </a:rPr>
              <a:t>23CSE301 • ML CAPSTONE • PROBLEM STATEMENT 149</a:t>
            </a:r>
            <a:endParaRPr sz="72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TextBox 54"/>
          <p:cNvSpPr txBox="1"/>
          <p:nvPr/>
        </p:nvSpPr>
        <p:spPr>
          <a:xfrm>
            <a:off x="9144000" y="6537960"/>
            <a:ext cx="24688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20" b="0" i="0">
                <a:solidFill>
                  <a:srgbClr val="000000"/>
                </a:solidFill>
                <a:latin typeface="Arial" panose="020B0604020202020204"/>
              </a:rPr>
              <a:t>Kavin J S  |  CH.SC.U4CSE24119</a:t>
            </a:r>
            <a:endParaRPr sz="720" b="0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15" name="Connector 2"/>
          <p:cNvCxnSpPr/>
          <p:nvPr/>
        </p:nvCxnSpPr>
        <p:spPr>
          <a:xfrm>
            <a:off x="5138928" y="438912"/>
            <a:ext cx="190195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10" name="TextBox 1"/>
          <p:cNvSpPr txBox="1"/>
          <p:nvPr/>
        </p:nvSpPr>
        <p:spPr>
          <a:xfrm>
            <a:off x="640080" y="347472"/>
            <a:ext cx="1929130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FEATURE SELECTION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1" name="TextBox 2"/>
          <p:cNvSpPr txBox="1"/>
          <p:nvPr/>
        </p:nvSpPr>
        <p:spPr>
          <a:xfrm>
            <a:off x="640080" y="658368"/>
            <a:ext cx="1078992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00000"/>
                </a:solidFill>
                <a:latin typeface="Arial" panose="020B0604020202020204"/>
              </a:rPr>
              <a:t>From raw interaction logs to recommendation-ready representations</a:t>
            </a:r>
            <a:endParaRPr sz="2500" b="1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112" name="Connector 3"/>
          <p:cNvCxnSpPr/>
          <p:nvPr/>
        </p:nvCxnSpPr>
        <p:spPr>
          <a:xfrm>
            <a:off x="640080" y="1170432"/>
            <a:ext cx="108996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5"/>
          <p:cNvSpPr txBox="1"/>
          <p:nvPr/>
        </p:nvSpPr>
        <p:spPr>
          <a:xfrm>
            <a:off x="841248" y="1645920"/>
            <a:ext cx="1234440" cy="28130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INPUT DATA</a:t>
            </a:r>
            <a:endParaRPr sz="16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Rectangle 7"/>
          <p:cNvSpPr/>
          <p:nvPr/>
        </p:nvSpPr>
        <p:spPr>
          <a:xfrm>
            <a:off x="841248" y="1947672"/>
            <a:ext cx="4114800" cy="2971800"/>
          </a:xfrm>
          <a:prstGeom prst="rect">
            <a:avLst/>
          </a:pr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8"/>
          <p:cNvSpPr txBox="1"/>
          <p:nvPr/>
        </p:nvSpPr>
        <p:spPr>
          <a:xfrm>
            <a:off x="841248" y="5102352"/>
            <a:ext cx="2909570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UserBehavior.csv • 3.67 GB • 5 columns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6" name="TextBox 9"/>
          <p:cNvSpPr txBox="1"/>
          <p:nvPr/>
        </p:nvSpPr>
        <p:spPr>
          <a:xfrm>
            <a:off x="841248" y="5404104"/>
            <a:ext cx="3201670" cy="17970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40" b="0" i="0">
                <a:solidFill>
                  <a:srgbClr val="000000"/>
                </a:solidFill>
                <a:latin typeface="Arial" panose="020B0604020202020204"/>
              </a:rPr>
              <a:t>Roles: user • item/product • category • behavior • timestamp</a:t>
            </a:r>
            <a:endParaRPr sz="94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TextBox 10"/>
          <p:cNvSpPr txBox="1"/>
          <p:nvPr/>
        </p:nvSpPr>
        <p:spPr>
          <a:xfrm>
            <a:off x="5468112" y="1536192"/>
            <a:ext cx="1978660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SELECTED FEATURES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5440680" y="1874393"/>
            <a:ext cx="614476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4"/>
          <p:cNvSpPr txBox="1"/>
          <p:nvPr/>
        </p:nvSpPr>
        <p:spPr>
          <a:xfrm>
            <a:off x="6144768" y="1998472"/>
            <a:ext cx="1567180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USER IDENTIFIER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0" name="TextBox 15"/>
          <p:cNvSpPr txBox="1"/>
          <p:nvPr/>
        </p:nvSpPr>
        <p:spPr>
          <a:xfrm>
            <a:off x="8229600" y="1998472"/>
            <a:ext cx="2367915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Links interactions to a user history.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5440680" y="2542032"/>
            <a:ext cx="614476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9"/>
          <p:cNvSpPr txBox="1"/>
          <p:nvPr/>
        </p:nvSpPr>
        <p:spPr>
          <a:xfrm>
            <a:off x="6144768" y="2693416"/>
            <a:ext cx="1715135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ITEM / PRODUCT ID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3" name="TextBox 20"/>
          <p:cNvSpPr txBox="1"/>
          <p:nvPr/>
        </p:nvSpPr>
        <p:spPr>
          <a:xfrm>
            <a:off x="8229600" y="2693416"/>
            <a:ext cx="2547620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Defines the item space being ranked.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5440680" y="3236976"/>
            <a:ext cx="614476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24"/>
          <p:cNvSpPr txBox="1"/>
          <p:nvPr/>
        </p:nvSpPr>
        <p:spPr>
          <a:xfrm>
            <a:off x="6144768" y="3388360"/>
            <a:ext cx="1022985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CATEGORY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6" name="TextBox 25"/>
          <p:cNvSpPr txBox="1"/>
          <p:nvPr/>
        </p:nvSpPr>
        <p:spPr>
          <a:xfrm>
            <a:off x="8229600" y="3388360"/>
            <a:ext cx="2134235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Adds product/category context.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5440680" y="3931920"/>
            <a:ext cx="614476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29"/>
          <p:cNvSpPr txBox="1"/>
          <p:nvPr/>
        </p:nvSpPr>
        <p:spPr>
          <a:xfrm>
            <a:off x="6144768" y="4083304"/>
            <a:ext cx="1475105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BEHAVIOR TYPE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TextBox 30"/>
          <p:cNvSpPr txBox="1"/>
          <p:nvPr/>
        </p:nvSpPr>
        <p:spPr>
          <a:xfrm>
            <a:off x="8229600" y="4083304"/>
            <a:ext cx="2107565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Encodes the interaction signal.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5440680" y="4626864"/>
            <a:ext cx="614476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34"/>
          <p:cNvSpPr txBox="1"/>
          <p:nvPr/>
        </p:nvSpPr>
        <p:spPr>
          <a:xfrm>
            <a:off x="6144768" y="4778248"/>
            <a:ext cx="1069340" cy="25082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TIMESTAMP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TextBox 35"/>
          <p:cNvSpPr txBox="1"/>
          <p:nvPr/>
        </p:nvSpPr>
        <p:spPr>
          <a:xfrm>
            <a:off x="8229600" y="4778248"/>
            <a:ext cx="2691765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Preserves temporal ordering of actions.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TextBox 36"/>
          <p:cNvSpPr txBox="1"/>
          <p:nvPr/>
        </p:nvSpPr>
        <p:spPr>
          <a:xfrm>
            <a:off x="5468112" y="5358384"/>
            <a:ext cx="3765550" cy="219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DATA → REPRESENTATION → RECOMMENDATION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5440680" y="5650992"/>
            <a:ext cx="1307592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38"/>
          <p:cNvSpPr txBox="1"/>
          <p:nvPr/>
        </p:nvSpPr>
        <p:spPr>
          <a:xfrm>
            <a:off x="5744909" y="5742432"/>
            <a:ext cx="699135" cy="1816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 panose="020B0604020202020204"/>
              </a:rPr>
              <a:t>RAW LOGS</a:t>
            </a:r>
            <a:endParaRPr sz="95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6" name="TextBox 39"/>
          <p:cNvSpPr txBox="1"/>
          <p:nvPr/>
        </p:nvSpPr>
        <p:spPr>
          <a:xfrm>
            <a:off x="5905246" y="5907024"/>
            <a:ext cx="378460" cy="16573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Arial" panose="020B0604020202020204"/>
              </a:rPr>
              <a:t>5 fields</a:t>
            </a:r>
            <a:endParaRPr sz="85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7" name="TextBox 40"/>
          <p:cNvSpPr txBox="1"/>
          <p:nvPr/>
        </p:nvSpPr>
        <p:spPr>
          <a:xfrm>
            <a:off x="6793992" y="5806440"/>
            <a:ext cx="2286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 panose="020B0604020202020204"/>
              </a:rPr>
              <a:t>→</a:t>
            </a:r>
            <a:endParaRPr sz="13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6976872" y="5650992"/>
            <a:ext cx="1307592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42"/>
          <p:cNvSpPr txBox="1"/>
          <p:nvPr/>
        </p:nvSpPr>
        <p:spPr>
          <a:xfrm>
            <a:off x="7233793" y="5742432"/>
            <a:ext cx="793750" cy="1816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 panose="020B0604020202020204"/>
              </a:rPr>
              <a:t>SEQUENCES</a:t>
            </a:r>
            <a:endParaRPr sz="95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TextBox 43"/>
          <p:cNvSpPr txBox="1"/>
          <p:nvPr/>
        </p:nvSpPr>
        <p:spPr>
          <a:xfrm>
            <a:off x="7257923" y="5907024"/>
            <a:ext cx="745490" cy="16573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Arial" panose="020B0604020202020204"/>
              </a:rPr>
              <a:t>latest 100/user</a:t>
            </a:r>
            <a:endParaRPr sz="85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1" name="TextBox 44"/>
          <p:cNvSpPr txBox="1"/>
          <p:nvPr/>
        </p:nvSpPr>
        <p:spPr>
          <a:xfrm>
            <a:off x="8330183" y="5806440"/>
            <a:ext cx="2286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 panose="020B0604020202020204"/>
              </a:rPr>
              <a:t>→</a:t>
            </a:r>
            <a:endParaRPr sz="13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8513064" y="5650992"/>
            <a:ext cx="1307592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46"/>
          <p:cNvSpPr txBox="1"/>
          <p:nvPr/>
        </p:nvSpPr>
        <p:spPr>
          <a:xfrm>
            <a:off x="8592503" y="5742432"/>
            <a:ext cx="1148715" cy="1816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 panose="020B0604020202020204"/>
              </a:rPr>
              <a:t>REPRESENTATION</a:t>
            </a:r>
            <a:endParaRPr sz="95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4" name="TextBox 47"/>
          <p:cNvSpPr txBox="1"/>
          <p:nvPr/>
        </p:nvSpPr>
        <p:spPr>
          <a:xfrm>
            <a:off x="8880158" y="5907024"/>
            <a:ext cx="573405" cy="16573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Arial" panose="020B0604020202020204"/>
              </a:rPr>
              <a:t>user + item</a:t>
            </a:r>
            <a:endParaRPr sz="85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5" name="TextBox 48"/>
          <p:cNvSpPr txBox="1"/>
          <p:nvPr/>
        </p:nvSpPr>
        <p:spPr>
          <a:xfrm>
            <a:off x="9866376" y="5806440"/>
            <a:ext cx="2286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 panose="020B0604020202020204"/>
              </a:rPr>
              <a:t>→</a:t>
            </a:r>
            <a:endParaRPr sz="13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10049256" y="5650992"/>
            <a:ext cx="1307592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50"/>
          <p:cNvSpPr txBox="1"/>
          <p:nvPr/>
        </p:nvSpPr>
        <p:spPr>
          <a:xfrm>
            <a:off x="10403967" y="5742432"/>
            <a:ext cx="598170" cy="1816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 panose="020B0604020202020204"/>
              </a:rPr>
              <a:t>RANKING</a:t>
            </a:r>
            <a:endParaRPr sz="95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TextBox 51"/>
          <p:cNvSpPr txBox="1"/>
          <p:nvPr/>
        </p:nvSpPr>
        <p:spPr>
          <a:xfrm>
            <a:off x="10348087" y="5907024"/>
            <a:ext cx="709930" cy="16573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Arial" panose="020B0604020202020204"/>
              </a:rPr>
              <a:t>50 candidates</a:t>
            </a:r>
            <a:endParaRPr sz="850" b="0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149" name="Connector 52"/>
          <p:cNvCxnSpPr/>
          <p:nvPr/>
        </p:nvCxnSpPr>
        <p:spPr>
          <a:xfrm>
            <a:off x="530352" y="6492240"/>
            <a:ext cx="111282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53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20" b="0" i="0">
                <a:solidFill>
                  <a:srgbClr val="000000"/>
                </a:solidFill>
                <a:latin typeface="Arial" panose="020B0604020202020204"/>
              </a:rPr>
              <a:t>23CSE301 • ML CAPSTONE • PROBLEM STATEMENT 149</a:t>
            </a:r>
            <a:endParaRPr sz="72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1" name="TextBox 54"/>
          <p:cNvSpPr txBox="1"/>
          <p:nvPr/>
        </p:nvSpPr>
        <p:spPr>
          <a:xfrm>
            <a:off x="9144000" y="6537960"/>
            <a:ext cx="24688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20" b="0" i="0">
                <a:solidFill>
                  <a:srgbClr val="000000"/>
                </a:solidFill>
                <a:latin typeface="Arial" panose="020B0604020202020204"/>
              </a:rPr>
              <a:t>Kavin J S  |  CH.SC.U4CSE24119</a:t>
            </a:r>
            <a:endParaRPr sz="72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2" name="TextBox 55"/>
          <p:cNvSpPr txBox="1"/>
          <p:nvPr/>
        </p:nvSpPr>
        <p:spPr>
          <a:xfrm>
            <a:off x="11109960" y="338328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20" b="1" i="0">
                <a:solidFill>
                  <a:srgbClr val="000000"/>
                </a:solidFill>
                <a:latin typeface="Arial" panose="020B0604020202020204"/>
              </a:rPr>
              <a:t>02</a:t>
            </a:r>
            <a:endParaRPr sz="82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Rounded Rectangle 152"/>
          <p:cNvSpPr/>
          <p:nvPr/>
        </p:nvSpPr>
        <p:spPr>
          <a:xfrm>
            <a:off x="5550662" y="2597023"/>
            <a:ext cx="43891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2"/>
          <p:cNvSpPr txBox="1"/>
          <p:nvPr/>
        </p:nvSpPr>
        <p:spPr>
          <a:xfrm>
            <a:off x="5550662" y="2715895"/>
            <a:ext cx="438912" cy="15544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820" b="1" i="0">
                <a:solidFill>
                  <a:srgbClr val="000000"/>
                </a:solidFill>
                <a:latin typeface="Arial" panose="020B0604020202020204"/>
              </a:rPr>
              <a:t>02</a:t>
            </a:r>
            <a:endParaRPr sz="82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Rounded Rectangle 154"/>
          <p:cNvSpPr/>
          <p:nvPr/>
        </p:nvSpPr>
        <p:spPr>
          <a:xfrm>
            <a:off x="5550662" y="1947672"/>
            <a:ext cx="43891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7"/>
          <p:cNvSpPr txBox="1"/>
          <p:nvPr/>
        </p:nvSpPr>
        <p:spPr>
          <a:xfrm>
            <a:off x="5550662" y="2066544"/>
            <a:ext cx="438912" cy="15544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820" b="1" i="0">
                <a:solidFill>
                  <a:srgbClr val="000000"/>
                </a:solidFill>
                <a:latin typeface="Arial" panose="020B0604020202020204"/>
              </a:rPr>
              <a:t>01</a:t>
            </a:r>
            <a:endParaRPr sz="82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7" name="Rounded Rectangle 156"/>
          <p:cNvSpPr/>
          <p:nvPr/>
        </p:nvSpPr>
        <p:spPr>
          <a:xfrm>
            <a:off x="5550662" y="3333369"/>
            <a:ext cx="43891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7"/>
          <p:cNvSpPr txBox="1"/>
          <p:nvPr/>
        </p:nvSpPr>
        <p:spPr>
          <a:xfrm>
            <a:off x="5550662" y="3452241"/>
            <a:ext cx="438912" cy="15544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820" b="1" i="0">
                <a:solidFill>
                  <a:srgbClr val="000000"/>
                </a:solidFill>
                <a:latin typeface="Arial" panose="020B0604020202020204"/>
              </a:rPr>
              <a:t>03</a:t>
            </a:r>
            <a:endParaRPr sz="82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Rounded Rectangle 158"/>
          <p:cNvSpPr/>
          <p:nvPr/>
        </p:nvSpPr>
        <p:spPr>
          <a:xfrm>
            <a:off x="5550662" y="4014470"/>
            <a:ext cx="43891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22"/>
          <p:cNvSpPr txBox="1"/>
          <p:nvPr/>
        </p:nvSpPr>
        <p:spPr>
          <a:xfrm>
            <a:off x="5550662" y="4133342"/>
            <a:ext cx="438912" cy="15544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820" b="1" i="0">
                <a:solidFill>
                  <a:srgbClr val="000000"/>
                </a:solidFill>
                <a:latin typeface="Arial" panose="020B0604020202020204"/>
              </a:rPr>
              <a:t>04</a:t>
            </a:r>
            <a:endParaRPr sz="82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Rounded Rectangle 160"/>
          <p:cNvSpPr/>
          <p:nvPr/>
        </p:nvSpPr>
        <p:spPr>
          <a:xfrm>
            <a:off x="5550662" y="4705096"/>
            <a:ext cx="43891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27"/>
          <p:cNvSpPr txBox="1"/>
          <p:nvPr/>
        </p:nvSpPr>
        <p:spPr>
          <a:xfrm>
            <a:off x="5550662" y="4823968"/>
            <a:ext cx="438912" cy="15544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820" b="1" i="0">
                <a:solidFill>
                  <a:srgbClr val="000000"/>
                </a:solidFill>
                <a:latin typeface="Arial" panose="020B0604020202020204"/>
              </a:rPr>
              <a:t>05</a:t>
            </a:r>
            <a:endParaRPr sz="820" b="1" i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63" name="Picture 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90" y="1927225"/>
            <a:ext cx="4187825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" name="TextBox 1"/>
          <p:cNvSpPr txBox="1"/>
          <p:nvPr/>
        </p:nvSpPr>
        <p:spPr>
          <a:xfrm>
            <a:off x="621792" y="334645"/>
            <a:ext cx="10250000" cy="445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IDENTIFICATION OF EXISTING ALGORITHM THROUGH LITERATURE SURVEY</a:t>
            </a:r>
            <a:endParaRPr lang="en-US" sz="2000" b="1" i="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TextBox 4"/>
          <p:cNvSpPr txBox="1"/>
          <p:nvPr/>
        </p:nvSpPr>
        <p:spPr>
          <a:xfrm>
            <a:off x="10972800" y="347472"/>
            <a:ext cx="50292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1" i="0">
                <a:solidFill>
                  <a:srgbClr val="000000"/>
                </a:solidFill>
                <a:latin typeface="Arial" panose="020B0604020202020204"/>
              </a:rPr>
              <a:t>03</a:t>
            </a:r>
            <a:endParaRPr sz="800" b="1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1" name="Connector 3"/>
          <p:cNvCxnSpPr/>
          <p:nvPr/>
        </p:nvCxnSpPr>
        <p:spPr>
          <a:xfrm>
            <a:off x="621792" y="868680"/>
            <a:ext cx="109453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0" name="Literature Survey Table"/>
          <p:cNvGraphicFramePr>
            <a:graphicFrameLocks noGrp="1"/>
          </p:cNvGraphicFramePr>
          <p:nvPr/>
        </p:nvGraphicFramePr>
        <p:xfrm>
          <a:off x="612267" y="1327785"/>
          <a:ext cx="10945368" cy="4507200"/>
        </p:xfrm>
        <a:graphic>
          <a:graphicData uri="http://schemas.openxmlformats.org/drawingml/2006/table">
            <a:tbl>
              <a:tblPr firstRow="1"/>
              <a:tblGrid>
                <a:gridCol w="1508760"/>
                <a:gridCol w="2423160"/>
                <a:gridCol w="2286000"/>
                <a:gridCol w="2240280"/>
                <a:gridCol w="248716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Author and Year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Title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Objective of the Work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Achievements of the Work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Gaps from the Work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Shen et al.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</a:b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2024 [4]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Accurate Prediction of Temperature Indicators in Eastern China Using a Multi-Scale CNN-LSTM-Attention Model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Predict temperature indicators in Eastern China accurately using a multi-scale CNN-LSTM-attention model.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Improves accuracy and speed by combining CNNs, LSTMs and attention for spatial-temporal modelling.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Cited only as a model example; the paper reports no recommendation-specific latency or throughput results for it.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Lin et al.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</a:b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2024 [20]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Enhanced Recommendation Combining Collaborative Filtering and Large Language Models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Enhance recommendation by combining collaborative filtering with large language models.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Not explicitly reported in the paper.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Cited within [17–20] for self-attention’s quadratic latency and memory growth, which limits real-time inference.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Wu &amp; Huang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</a:b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2025 [33]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Psychological Health Prediction Based on the Fusion of Structured and Unstructured Data in EHR: a Case Study of Low-Income Populations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Predict psychological health by fusing structured and unstructured EHR data in a low-income population case study.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Not explicitly reported in the paper.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Cited for the 8-bit quantized baseline; alone it cuts GPU latency ~15.8% with ~1.0% Hit Rate drop (PS149 results).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1" name="Connector 32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33"/>
          <p:cNvSpPr txBox="1"/>
          <p:nvPr/>
        </p:nvSpPr>
        <p:spPr>
          <a:xfrm>
            <a:off x="621792" y="6537960"/>
            <a:ext cx="7315200" cy="14630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 panose="020B0604020202020204"/>
              </a:rPr>
              <a:t>Literature survey • PS149 paper</a:t>
            </a:r>
            <a:endParaRPr sz="7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3" name="TextBox 34"/>
          <p:cNvSpPr txBox="1"/>
          <p:nvPr/>
        </p:nvSpPr>
        <p:spPr>
          <a:xfrm>
            <a:off x="8869680" y="6537960"/>
            <a:ext cx="2697480" cy="14630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700" b="0" i="0">
                <a:solidFill>
                  <a:srgbClr val="000000"/>
                </a:solidFill>
                <a:latin typeface="Arial" panose="020B0604020202020204"/>
              </a:rPr>
              <a:t>Kavin J S  |  CH.SC.U4CSE24119</a:t>
            </a:r>
            <a:endParaRPr sz="700" b="0" i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" name="TextBox 1"/>
          <p:cNvSpPr txBox="1"/>
          <p:nvPr/>
        </p:nvSpPr>
        <p:spPr>
          <a:xfrm>
            <a:off x="621792" y="334645"/>
            <a:ext cx="10250000" cy="445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IDENTIFICATION OF EXISTING ALGORITHM THROUGH LITERATURE SURVEY</a:t>
            </a:r>
            <a:endParaRPr lang="en-US" sz="2000" b="1" i="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TextBox 4"/>
          <p:cNvSpPr txBox="1"/>
          <p:nvPr/>
        </p:nvSpPr>
        <p:spPr>
          <a:xfrm>
            <a:off x="10972800" y="347472"/>
            <a:ext cx="50292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1" i="0">
                <a:solidFill>
                  <a:srgbClr val="000000"/>
                </a:solidFill>
                <a:latin typeface="Arial" panose="020B0604020202020204"/>
              </a:rPr>
              <a:t>04</a:t>
            </a:r>
            <a:endParaRPr sz="800" b="1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1" name="Connector 3"/>
          <p:cNvCxnSpPr/>
          <p:nvPr/>
        </p:nvCxnSpPr>
        <p:spPr>
          <a:xfrm>
            <a:off x="621792" y="868680"/>
            <a:ext cx="109453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0" name="Literature Survey Table"/>
          <p:cNvGraphicFramePr>
            <a:graphicFrameLocks noGrp="1"/>
          </p:cNvGraphicFramePr>
          <p:nvPr/>
        </p:nvGraphicFramePr>
        <p:xfrm>
          <a:off x="621792" y="1327785"/>
          <a:ext cx="10945368" cy="4507200"/>
        </p:xfrm>
        <a:graphic>
          <a:graphicData uri="http://schemas.openxmlformats.org/drawingml/2006/table">
            <a:tbl>
              <a:tblPr firstRow="1"/>
              <a:tblGrid>
                <a:gridCol w="1508760"/>
                <a:gridCol w="2423160"/>
                <a:gridCol w="2286000"/>
                <a:gridCol w="2240280"/>
                <a:gridCol w="248716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Author and Year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Title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Objective of the Work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Achievements of the Work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Gaps from the Work</a:t>
                      </a:r>
                      <a:endParaRPr lang="en-US" sz="1200" b="1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Kang &amp; McAuley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</a:b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2018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Self-Attentive Sequential Recommendation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Apply self-attention to sequential recommendation, capturing long-term behaviour while predicting from a few relevant past actions.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Outperforms Markov-chain, CNN and RNN baselines on sparse and dense datasets; trains an order of magnitude faster than CNN/RNN models.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Attention cost grows as O(n²d); the authors state it cannot scale to very long sequences.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Jacob et al.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</a:b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2018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Quantization and Training of Neural Networks for Efficient Integer-Arithmetic-Only Inference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Enable efficient on-device inference through integer-only quantization, with co-designed training that preserves accuracy.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Improves the accuracy–latency trade-off of MobileNets; up to 50% lower running time with −1.8% relative mAP on COCO.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Tested only on vision models on ARM CPUs; the latency gain depends on the hardware’s float-vs-integer speed.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Tang &amp; Wang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</a:b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2018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Ranking Distillation: Learning Compact Ranking Models With High Performance for Recommender System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Learn a compact recommender ranking model that keeps a large teacher’s accuracy with a small model’s inference speed.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Student has roughly half the teacher’s parameters and inference time, with no significant loss in ranking performance.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Arial" panose="020B0604020202020204"/>
                          <a:cs typeface="Arial" panose="020B0604020202020204"/>
                        </a:rPr>
                        <a:t>Evaluated only on Fossil and Caser with small check-in datasets; self-attention models and serving-level optimisation not tested.</a:t>
                      </a:r>
                      <a:endParaRPr lang="en-US" sz="1100" b="0" i="0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1" name="Connector 32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33"/>
          <p:cNvSpPr txBox="1"/>
          <p:nvPr/>
        </p:nvSpPr>
        <p:spPr>
          <a:xfrm>
            <a:off x="621792" y="6537960"/>
            <a:ext cx="7315200" cy="14630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 panose="020B0604020202020204"/>
              </a:rPr>
              <a:t>Literature survey (continued) • Papers 4–6 of 6</a:t>
            </a:r>
            <a:endParaRPr sz="7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3" name="TextBox 34"/>
          <p:cNvSpPr txBox="1"/>
          <p:nvPr/>
        </p:nvSpPr>
        <p:spPr>
          <a:xfrm>
            <a:off x="8869680" y="6537960"/>
            <a:ext cx="2697480" cy="14630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700" b="0" i="0">
                <a:solidFill>
                  <a:srgbClr val="000000"/>
                </a:solidFill>
                <a:latin typeface="Arial" panose="020B0604020202020204"/>
              </a:rPr>
              <a:t>Kavin J S  |  CH.SC.U4CSE24119</a:t>
            </a:r>
            <a:endParaRPr sz="700" b="0" i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8640" y="334645"/>
            <a:ext cx="9217660" cy="445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LEARNING ALGORITHM /</a:t>
            </a:r>
            <a:r>
              <a:rPr lang="en-IN"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 / METHOD</a:t>
            </a:r>
            <a:endParaRPr sz="2000" b="1" i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9281160" y="466344"/>
            <a:ext cx="2240280" cy="1828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/>
            <a:r>
              <a:rPr sz="820" b="0" i="0">
                <a:solidFill>
                  <a:srgbClr val="000000"/>
                </a:solidFill>
                <a:latin typeface="Arial" panose="020B0604020202020204"/>
              </a:rPr>
              <a:t>Kavin J S – CH.SC.U4CSE24119</a:t>
            </a:r>
            <a:endParaRPr sz="820" b="0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548640" y="868680"/>
            <a:ext cx="11064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621792" y="1051560"/>
            <a:ext cx="1417320" cy="20116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 panose="020B0604020202020204"/>
              </a:rPr>
              <a:t>SELECTED APPROACH</a:t>
            </a:r>
            <a:endParaRPr sz="9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2038985" y="996823"/>
            <a:ext cx="804672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 panose="02020603050405020304"/>
              </a:rPr>
              <a:t>Joint model-level + system-level optimization</a:t>
            </a:r>
            <a:endParaRPr sz="13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426464"/>
            <a:ext cx="52852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6254496" y="1426464"/>
            <a:ext cx="52852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8"/>
          <p:cNvSpPr txBox="1"/>
          <p:nvPr/>
        </p:nvSpPr>
        <p:spPr>
          <a:xfrm>
            <a:off x="832104" y="1581912"/>
            <a:ext cx="1128395" cy="20193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MODEL-LEVEL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832104" y="1847088"/>
            <a:ext cx="3347720" cy="20193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Pruning  •  Quantization  •  Knowledge Distillation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6464808" y="1581912"/>
            <a:ext cx="1204595" cy="20193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SYSTEM-LEVEL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6464808" y="1847088"/>
            <a:ext cx="3427095" cy="20193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TensorRT / FP16  •  Scheduling  •  Load Balancing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621792" y="2468880"/>
            <a:ext cx="6135370" cy="233045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Experimental Comparison (Taobao User Behavior Dataset, NVIDIA V100)</a:t>
            </a:r>
            <a:endParaRPr sz="14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621792" y="2761488"/>
            <a:ext cx="3182112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3803904" y="2761488"/>
            <a:ext cx="1920240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196652" y="2861691"/>
            <a:ext cx="113474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Parameters (M)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24144" y="2761488"/>
            <a:ext cx="2011680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127687" y="2861691"/>
            <a:ext cx="120459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Model Size (MB)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35824" y="2761488"/>
            <a:ext cx="1874519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7999348" y="2861691"/>
            <a:ext cx="1347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GPU Latency (ms)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10344" y="2761488"/>
            <a:ext cx="1920240" cy="42976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9684004" y="2861691"/>
            <a:ext cx="177292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GPU Throughput (req/s)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3191256"/>
            <a:ext cx="3182112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85800" y="3296031"/>
            <a:ext cx="208280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Baseline (FP32, self-attention)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03904" y="3191256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4598290" y="3296031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32.0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24144" y="3191256"/>
            <a:ext cx="2011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6522022" y="3296031"/>
            <a:ext cx="4159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128.0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35824" y="3191256"/>
            <a:ext cx="1874519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8507349" y="3296031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52.4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10344" y="3191256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10426001" y="3296031"/>
            <a:ext cx="2889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190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21792" y="3621024"/>
            <a:ext cx="3182112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685800" y="3725799"/>
            <a:ext cx="12033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Quantized (INT8)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803904" y="3621024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4598290" y="3725799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32.0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724144" y="3621024"/>
            <a:ext cx="2011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6564250" y="3725799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32.0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735824" y="3621024"/>
            <a:ext cx="1874519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8507349" y="3725799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44.1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610344" y="3621024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10426001" y="3725799"/>
            <a:ext cx="2889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225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1792" y="4050791"/>
            <a:ext cx="3182112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685800" y="4155566"/>
            <a:ext cx="97409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Pruned (40%)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803904" y="4050791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4598290" y="4155566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19.2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724144" y="4050791"/>
            <a:ext cx="2011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TextBox 48"/>
          <p:cNvSpPr txBox="1"/>
          <p:nvPr/>
        </p:nvSpPr>
        <p:spPr>
          <a:xfrm>
            <a:off x="6564250" y="4155566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76.8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735824" y="4050791"/>
            <a:ext cx="1874519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8507349" y="4155566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36.7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610344" y="4050791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TextBox 52"/>
          <p:cNvSpPr txBox="1"/>
          <p:nvPr/>
        </p:nvSpPr>
        <p:spPr>
          <a:xfrm>
            <a:off x="10426001" y="4155566"/>
            <a:ext cx="2889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260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1792" y="4480559"/>
            <a:ext cx="3182112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TextBox 54"/>
          <p:cNvSpPr txBox="1"/>
          <p:nvPr/>
        </p:nvSpPr>
        <p:spPr>
          <a:xfrm>
            <a:off x="685800" y="4585334"/>
            <a:ext cx="139319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Pruned + Quantized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803904" y="4480559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TextBox 56"/>
          <p:cNvSpPr txBox="1"/>
          <p:nvPr/>
        </p:nvSpPr>
        <p:spPr>
          <a:xfrm>
            <a:off x="4598290" y="4585334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19.2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724144" y="4480559"/>
            <a:ext cx="2011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9" name="TextBox 58"/>
          <p:cNvSpPr txBox="1"/>
          <p:nvPr/>
        </p:nvSpPr>
        <p:spPr>
          <a:xfrm>
            <a:off x="6564250" y="4585334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19.2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735824" y="4480559"/>
            <a:ext cx="1874519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1" name="TextBox 60"/>
          <p:cNvSpPr txBox="1"/>
          <p:nvPr/>
        </p:nvSpPr>
        <p:spPr>
          <a:xfrm>
            <a:off x="8507349" y="4585334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29.8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610344" y="4480559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3" name="TextBox 62"/>
          <p:cNvSpPr txBox="1"/>
          <p:nvPr/>
        </p:nvSpPr>
        <p:spPr>
          <a:xfrm>
            <a:off x="10426001" y="4585334"/>
            <a:ext cx="2889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325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1792" y="4910327"/>
            <a:ext cx="3182112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685800" y="5015102"/>
            <a:ext cx="201041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Distilled + TensorRT (FP16)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803904" y="4910327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4640517" y="5015102"/>
            <a:ext cx="24701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6.4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724144" y="4910327"/>
            <a:ext cx="2011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6564250" y="5015102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12.8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735824" y="4910327"/>
            <a:ext cx="1874519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8507349" y="5015102"/>
            <a:ext cx="33147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21.5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610344" y="4910327"/>
            <a:ext cx="19202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10426001" y="5015102"/>
            <a:ext cx="2889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460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23062" y="5660771"/>
            <a:ext cx="10927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TextBox 75"/>
          <p:cNvSpPr txBox="1"/>
          <p:nvPr/>
        </p:nvSpPr>
        <p:spPr>
          <a:xfrm>
            <a:off x="1725740" y="5756402"/>
            <a:ext cx="8721725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 panose="02020603050405020304"/>
              </a:rPr>
              <a:t>LOW LATENCY   +   HIGH THROUGHPUT   +   LOW RESOURCE USAGE   +   PRESERVED RECOMMENDATION QUALITY</a:t>
            </a:r>
            <a:endParaRPr sz="12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  <p:cxnSp>
        <p:nvCxnSpPr>
          <p:cNvPr id="77" name="Connector 76"/>
          <p:cNvCxnSpPr/>
          <p:nvPr/>
        </p:nvCxnSpPr>
        <p:spPr>
          <a:xfrm>
            <a:off x="621792" y="6382512"/>
            <a:ext cx="109270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21792" y="6446520"/>
            <a:ext cx="7132320" cy="155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 panose="020B0604020202020204"/>
              </a:rPr>
              <a:t>Method identification &amp; results • PS149 paper, Table I</a:t>
            </a:r>
            <a:endParaRPr sz="7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144000" y="6446520"/>
            <a:ext cx="2404872" cy="155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/>
            <a:r>
              <a:rPr sz="700" b="0" i="0">
                <a:solidFill>
                  <a:srgbClr val="000000"/>
                </a:solidFill>
                <a:latin typeface="Arial" panose="020B0604020202020204"/>
              </a:rPr>
              <a:t>PS149 · Phase 2</a:t>
            </a:r>
            <a:endParaRPr sz="7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TextBox 14"/>
          <p:cNvSpPr txBox="1"/>
          <p:nvPr/>
        </p:nvSpPr>
        <p:spPr>
          <a:xfrm>
            <a:off x="831850" y="2861691"/>
            <a:ext cx="577850" cy="20193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Method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7378</Words>
  <Application>WPS Presentation</Application>
  <PresentationFormat/>
  <Paragraphs>414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SimSun</vt:lpstr>
      <vt:lpstr>Wingdings</vt:lpstr>
      <vt:lpstr>Arial</vt:lpstr>
      <vt:lpstr>Symbol</vt:lpstr>
      <vt:lpstr>Times New Roman</vt:lpstr>
      <vt:lpstr>Calibri</vt:lpstr>
      <vt:lpstr>Cambria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DejaVu Sans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Kavin.J.S</cp:lastModifiedBy>
  <cp:revision>14</cp:revision>
  <dcterms:created xsi:type="dcterms:W3CDTF">2026-07-22T12:04:00Z</dcterms:created>
  <dcterms:modified xsi:type="dcterms:W3CDTF">2026-09-19T13:30:52Z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8DDB9A4BD0BA408BA0BD1860240F9A37_13</vt:lpwstr>
  </property>
  <property fmtid="{D5CDD505-2E9C-101B-9397-08002B2CF9AE}" pid="3" name="KSOProductBuildVer">
    <vt:lpwstr>2057-12.2.0.23206</vt:lpwstr>
  </property>
  <property fmtid="{D5CDD505-2E9C-101B-9397-08002B2CF9AE}" pid="4" name="Notes">
    <vt:i4>4</vt:i4>
  </property>
  <property fmtid="{D5CDD505-2E9C-101B-9397-08002B2CF9AE}" pid="5" name="PresentationFormat">
    <vt:lpwstr>On-screen Show (16:9)</vt:lpwstr>
  </property>
  <property fmtid="{D5CDD505-2E9C-101B-9397-08002B2CF9AE}" pid="6" name="Slides">
    <vt:i4>4</vt:i4>
  </property>
</Properties>
</file>